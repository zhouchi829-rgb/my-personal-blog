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898" cy="137160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898" cy="137160"/>
          </a:xfrm>
          <a:prstGeom prst="rect">
            <a:avLst/>
          </a:prstGeom>
          <a:solidFill>
            <a:srgbClr val="3A0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3898" cy="137160"/>
          </a:xfrm>
          <a:prstGeom prst="rect">
            <a:avLst/>
          </a:prstGeom>
          <a:solidFill>
            <a:srgbClr val="F72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13716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4361EE"/>
                </a:solidFill>
                <a:latin typeface="微软雅黑"/>
              </a:defRPr>
            </a:pPr>
            <a:r>
              <a:t>个人博客网站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560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3A0CA3"/>
                </a:solidFill>
                <a:latin typeface="微软雅黑"/>
              </a:defRPr>
            </a:pPr>
            <a:r>
              <a:t>—— 基于Node.js + Express + SQLite的全栈Web开发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3474720"/>
            <a:ext cx="3047695" cy="36576"/>
          </a:xfrm>
          <a:prstGeom prst="rect">
            <a:avLst/>
          </a:prstGeom>
          <a:solidFill>
            <a:srgbClr val="F72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3840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C757D"/>
                </a:solidFill>
                <a:latin typeface="微软雅黑"/>
              </a:defRPr>
            </a:pPr>
            <a:r>
              <a:t>毕业设计答辩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4389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C757D"/>
                </a:solidFill>
                <a:latin typeface="微软雅黑"/>
              </a:defRPr>
            </a:pPr>
            <a:r>
              <a:t>答辩人：周驰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4846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C757D"/>
                </a:solidFill>
                <a:latin typeface="微软雅黑"/>
              </a:defRPr>
            </a:pPr>
            <a:r>
              <a:t>完成日期：2025年12月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A0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898" cy="73152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898" cy="73152"/>
          </a:xfrm>
          <a:prstGeom prst="rect">
            <a:avLst/>
          </a:prstGeom>
          <a:solidFill>
            <a:srgbClr val="3A0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3898" cy="73152"/>
          </a:xfrm>
          <a:prstGeom prst="rect">
            <a:avLst/>
          </a:prstGeom>
          <a:solidFill>
            <a:srgbClr val="F72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361EE"/>
                </a:solidFill>
                <a:latin typeface="微软雅黑"/>
              </a:defRPr>
            </a:pPr>
            <a:r>
              <a:t>目 录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188720"/>
            <a:ext cx="1371600" cy="36576"/>
          </a:xfrm>
          <a:prstGeom prst="rect">
            <a:avLst/>
          </a:prstGeom>
          <a:solidFill>
            <a:srgbClr val="F72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7280" y="1645920"/>
            <a:ext cx="457200" cy="457200"/>
          </a:xfrm>
          <a:prstGeom prst="ellipse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600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12529"/>
                </a:solidFill>
                <a:latin typeface="微软雅黑"/>
              </a:defRPr>
            </a:pPr>
            <a:r>
              <a:t>项目概述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965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C757D"/>
                </a:solidFill>
                <a:latin typeface="微软雅黑"/>
              </a:defRPr>
            </a:pPr>
            <a:r>
              <a:t>项目背景、目标与特点</a:t>
            </a:r>
          </a:p>
        </p:txBody>
      </p:sp>
      <p:sp>
        <p:nvSpPr>
          <p:cNvPr id="10" name="Oval 9"/>
          <p:cNvSpPr/>
          <p:nvPr/>
        </p:nvSpPr>
        <p:spPr>
          <a:xfrm>
            <a:off x="1097280" y="2331720"/>
            <a:ext cx="457200" cy="457200"/>
          </a:xfrm>
          <a:prstGeom prst="ellipse">
            <a:avLst/>
          </a:prstGeom>
          <a:solidFill>
            <a:srgbClr val="3A0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286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12529"/>
                </a:solidFill>
                <a:latin typeface="微软雅黑"/>
              </a:defRPr>
            </a:pPr>
            <a:r>
              <a:t>技术栈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6517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C757D"/>
                </a:solidFill>
                <a:latin typeface="微软雅黑"/>
              </a:defRPr>
            </a:pPr>
            <a:r>
              <a:t>前端、后端、数据库技术</a:t>
            </a:r>
          </a:p>
        </p:txBody>
      </p:sp>
      <p:sp>
        <p:nvSpPr>
          <p:cNvPr id="13" name="Oval 12"/>
          <p:cNvSpPr/>
          <p:nvPr/>
        </p:nvSpPr>
        <p:spPr>
          <a:xfrm>
            <a:off x="1097280" y="3017520"/>
            <a:ext cx="457200" cy="457200"/>
          </a:xfrm>
          <a:prstGeom prst="ellipse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971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12529"/>
                </a:solidFill>
                <a:latin typeface="微软雅黑"/>
              </a:defRPr>
            </a:pPr>
            <a:r>
              <a:t>系统架构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3375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C757D"/>
                </a:solidFill>
                <a:latin typeface="微软雅黑"/>
              </a:defRPr>
            </a:pPr>
            <a:r>
              <a:t>整体架构与目录结构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" y="3703320"/>
            <a:ext cx="457200" cy="457200"/>
          </a:xfrm>
          <a:prstGeom prst="ellipse">
            <a:avLst/>
          </a:prstGeom>
          <a:solidFill>
            <a:srgbClr val="3A0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657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12529"/>
                </a:solidFill>
                <a:latin typeface="微软雅黑"/>
              </a:defRPr>
            </a:pPr>
            <a:r>
              <a:t>功能模块实现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0233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C757D"/>
                </a:solidFill>
                <a:latin typeface="微软雅黑"/>
              </a:defRPr>
            </a:pPr>
            <a:r>
              <a:t>用户认证、文章管理、图片上传、评论系统</a:t>
            </a:r>
          </a:p>
        </p:txBody>
      </p:sp>
      <p:sp>
        <p:nvSpPr>
          <p:cNvPr id="19" name="Oval 18"/>
          <p:cNvSpPr/>
          <p:nvPr/>
        </p:nvSpPr>
        <p:spPr>
          <a:xfrm>
            <a:off x="1097280" y="4389120"/>
            <a:ext cx="457200" cy="457200"/>
          </a:xfrm>
          <a:prstGeom prst="ellipse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4343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12529"/>
                </a:solidFill>
                <a:latin typeface="微软雅黑"/>
              </a:defRPr>
            </a:pPr>
            <a:r>
              <a:t>关键技术问题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47091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C757D"/>
                </a:solidFill>
                <a:latin typeface="微软雅黑"/>
              </a:defRPr>
            </a:pPr>
            <a:r>
              <a:t>开发中遇到的问题及解决方案</a:t>
            </a:r>
          </a:p>
        </p:txBody>
      </p:sp>
      <p:sp>
        <p:nvSpPr>
          <p:cNvPr id="22" name="Oval 21"/>
          <p:cNvSpPr/>
          <p:nvPr/>
        </p:nvSpPr>
        <p:spPr>
          <a:xfrm>
            <a:off x="1097280" y="5074920"/>
            <a:ext cx="457200" cy="457200"/>
          </a:xfrm>
          <a:prstGeom prst="ellipse">
            <a:avLst/>
          </a:prstGeom>
          <a:solidFill>
            <a:srgbClr val="3A0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5029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12529"/>
                </a:solidFill>
                <a:latin typeface="微软雅黑"/>
              </a:defRPr>
            </a:pPr>
            <a:r>
              <a:t>项目成果展示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5394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C757D"/>
                </a:solidFill>
                <a:latin typeface="微软雅黑"/>
              </a:defRPr>
            </a:pPr>
            <a:r>
              <a:t>核心功能与界面展示</a:t>
            </a:r>
          </a:p>
        </p:txBody>
      </p:sp>
      <p:sp>
        <p:nvSpPr>
          <p:cNvPr id="25" name="Oval 24"/>
          <p:cNvSpPr/>
          <p:nvPr/>
        </p:nvSpPr>
        <p:spPr>
          <a:xfrm>
            <a:off x="1097280" y="5760720"/>
            <a:ext cx="457200" cy="457200"/>
          </a:xfrm>
          <a:prstGeom prst="ellipse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5715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12529"/>
                </a:solidFill>
                <a:latin typeface="微软雅黑"/>
              </a:defRPr>
            </a:pPr>
            <a:r>
              <a:t>学习收获与总结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60807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C757D"/>
                </a:solidFill>
                <a:latin typeface="微软雅黑"/>
              </a:defRPr>
            </a:pPr>
            <a:r>
              <a:t>技术提升与未来展望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0" y="1371600"/>
            <a:ext cx="36576" cy="457200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898" cy="73152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898" cy="73152"/>
          </a:xfrm>
          <a:prstGeom prst="rect">
            <a:avLst/>
          </a:prstGeom>
          <a:solidFill>
            <a:srgbClr val="3A0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3898" cy="73152"/>
          </a:xfrm>
          <a:prstGeom prst="rect">
            <a:avLst/>
          </a:prstGeom>
          <a:solidFill>
            <a:srgbClr val="F72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361EE"/>
                </a:solidFill>
                <a:latin typeface="微软雅黑"/>
              </a:defRPr>
            </a:pPr>
            <a:r>
              <a:t>01  项目概述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188720"/>
            <a:ext cx="1371600" cy="36576"/>
          </a:xfrm>
          <a:prstGeom prst="rect">
            <a:avLst/>
          </a:prstGeom>
          <a:solidFill>
            <a:srgbClr val="F72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02920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1676400" cy="54864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407920" y="1645920"/>
            <a:ext cx="1676400" cy="54864"/>
          </a:xfrm>
          <a:prstGeom prst="rect">
            <a:avLst/>
          </a:prstGeom>
          <a:solidFill>
            <a:srgbClr val="3A0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084320" y="1645920"/>
            <a:ext cx="1676400" cy="54864"/>
          </a:xfrm>
          <a:prstGeom prst="rect">
            <a:avLst/>
          </a:prstGeom>
          <a:solidFill>
            <a:srgbClr val="F72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2024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361EE"/>
                </a:solidFill>
                <a:latin typeface="微软雅黑"/>
              </a:defRPr>
            </a:pPr>
            <a:r>
              <a:t>项目背景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468880"/>
            <a:ext cx="4480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C757D"/>
                </a:solidFill>
                <a:latin typeface="微软雅黑"/>
              </a:defRPr>
            </a:pPr>
            <a:r>
              <a:t>随着互联网技术的快速发展，个人博客已成为展示个人技能、分享知识和记录生活的重要平台。本次毕业设计旨在开发一个功能完整的个人博客网站，通过实践掌握全栈Web开发技术，提升实际项目开发能力。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645920"/>
            <a:ext cx="502920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1645920"/>
            <a:ext cx="1676400" cy="54864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77200" y="1645920"/>
            <a:ext cx="1676400" cy="54864"/>
          </a:xfrm>
          <a:prstGeom prst="rect">
            <a:avLst/>
          </a:prstGeom>
          <a:solidFill>
            <a:srgbClr val="3A0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753600" y="1645920"/>
            <a:ext cx="1676400" cy="54864"/>
          </a:xfrm>
          <a:prstGeom prst="rect">
            <a:avLst/>
          </a:prstGeom>
          <a:solidFill>
            <a:srgbClr val="F72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192024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361EE"/>
                </a:solidFill>
                <a:latin typeface="微软雅黑"/>
              </a:defRPr>
            </a:pPr>
            <a:r>
              <a:t>项目目标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468880"/>
            <a:ext cx="4480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C757D"/>
                </a:solidFill>
                <a:latin typeface="微软雅黑"/>
              </a:defRPr>
            </a:pPr>
            <a:r>
              <a:t>• 开发具有完整前后端功能的个人博客系统</a:t>
            </a:r>
            <a:br/>
            <a:r>
              <a:t>• 实现用户认证、文章管理、图片上传等核心功能</a:t>
            </a:r>
            <a:br/>
            <a:r>
              <a:t>• 构建响应式界面，提供良好的用户体验</a:t>
            </a:r>
            <a:br/>
            <a:r>
              <a:t>• 掌握Node.js、Express、SQLite等技术的实际应用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206240"/>
            <a:ext cx="502920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4206240"/>
            <a:ext cx="1676400" cy="54864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407920" y="4206240"/>
            <a:ext cx="1676400" cy="54864"/>
          </a:xfrm>
          <a:prstGeom prst="rect">
            <a:avLst/>
          </a:prstGeom>
          <a:solidFill>
            <a:srgbClr val="3A0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084320" y="4206240"/>
            <a:ext cx="1676400" cy="54864"/>
          </a:xfrm>
          <a:prstGeom prst="rect">
            <a:avLst/>
          </a:prstGeom>
          <a:solidFill>
            <a:srgbClr val="F72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448056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361EE"/>
                </a:solidFill>
                <a:latin typeface="微软雅黑"/>
              </a:defRPr>
            </a:pPr>
            <a:r>
              <a:t>项目特点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029200"/>
            <a:ext cx="4480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C757D"/>
                </a:solidFill>
                <a:latin typeface="微软雅黑"/>
              </a:defRPr>
            </a:pPr>
            <a:r>
              <a:t>• 技术栈全面：涵盖前端、后端、数据库全栈技术</a:t>
            </a:r>
            <a:br/>
            <a:r>
              <a:t>• 功能完整：包含用户系统、文章管理、评论系统、图片画廊等模块</a:t>
            </a:r>
            <a:br/>
            <a:r>
              <a:t>• 代码规范：遵循现代Web开发最佳实践</a:t>
            </a:r>
            <a:br/>
            <a:r>
              <a:t>• 易于部署：使用轻量级技术栈，部署简单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4206240"/>
            <a:ext cx="502920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0" y="4206240"/>
            <a:ext cx="1676400" cy="54864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77200" y="4206240"/>
            <a:ext cx="1676400" cy="54864"/>
          </a:xfrm>
          <a:prstGeom prst="rect">
            <a:avLst/>
          </a:prstGeom>
          <a:solidFill>
            <a:srgbClr val="3A0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753600" y="4206240"/>
            <a:ext cx="1676400" cy="54864"/>
          </a:xfrm>
          <a:prstGeom prst="rect">
            <a:avLst/>
          </a:prstGeom>
          <a:solidFill>
            <a:srgbClr val="F72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0" y="448056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361EE"/>
                </a:solidFill>
                <a:latin typeface="微软雅黑"/>
              </a:defRPr>
            </a:pPr>
            <a:r>
              <a:t>开发周期与规模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5029200"/>
            <a:ext cx="4480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C757D"/>
                </a:solidFill>
                <a:latin typeface="微软雅黑"/>
              </a:defRPr>
            </a:pPr>
            <a:r>
              <a:t>• 开发周期：2周</a:t>
            </a:r>
            <a:br/>
            <a:r>
              <a:t>• 代码行数：约3000行</a:t>
            </a:r>
            <a:br/>
            <a:r>
              <a:t>• 数据库表：4个核心表</a:t>
            </a:r>
            <a:br/>
            <a:r>
              <a:t>• API接口：15+个RESTful接口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898" cy="73152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898" cy="73152"/>
          </a:xfrm>
          <a:prstGeom prst="rect">
            <a:avLst/>
          </a:prstGeom>
          <a:solidFill>
            <a:srgbClr val="3A0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3898" cy="73152"/>
          </a:xfrm>
          <a:prstGeom prst="rect">
            <a:avLst/>
          </a:prstGeom>
          <a:solidFill>
            <a:srgbClr val="F72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361EE"/>
                </a:solidFill>
                <a:latin typeface="微软雅黑"/>
              </a:defRPr>
            </a:pPr>
            <a:r>
              <a:t>02  技术栈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188720"/>
            <a:ext cx="1371600" cy="36576"/>
          </a:xfrm>
          <a:prstGeom prst="rect">
            <a:avLst/>
          </a:prstGeom>
          <a:solidFill>
            <a:srgbClr val="F72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3383280" cy="457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1127760" cy="54864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59280" y="1645920"/>
            <a:ext cx="1127760" cy="54864"/>
          </a:xfrm>
          <a:prstGeom prst="rect">
            <a:avLst/>
          </a:prstGeom>
          <a:solidFill>
            <a:srgbClr val="3A0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987040" y="1645920"/>
            <a:ext cx="1127760" cy="54864"/>
          </a:xfrm>
          <a:prstGeom prst="rect">
            <a:avLst/>
          </a:prstGeom>
          <a:solidFill>
            <a:srgbClr val="F72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202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361EE"/>
                </a:solidFill>
                <a:latin typeface="微软雅黑"/>
              </a:defRPr>
            </a:pPr>
            <a:r>
              <a:t>前端技术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468880"/>
            <a:ext cx="28346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C757D"/>
                </a:solidFill>
                <a:latin typeface="微软雅黑"/>
              </a:defRPr>
            </a:pPr>
            <a:r>
              <a:t>HTML5 / CSS3</a:t>
            </a:r>
            <a:br/>
            <a:r>
              <a:t>• 语义化标签结构</a:t>
            </a:r>
            <a:br/>
            <a:r>
              <a:t>• CSS Flexbox &amp; Grid布局</a:t>
            </a:r>
            <a:br/>
            <a:r>
              <a:t>• 响应式设计适配多端</a:t>
            </a:r>
            <a:br/>
            <a:br/>
            <a:r>
              <a:t>JavaScript (ES6+)</a:t>
            </a:r>
            <a:br/>
            <a:r>
              <a:t>• Fetch API异步通信</a:t>
            </a:r>
            <a:br/>
            <a:r>
              <a:t>• DOM操作与事件处理</a:t>
            </a:r>
            <a:br/>
            <a:r>
              <a:t>• 模块化代码组织</a:t>
            </a:r>
            <a:br/>
            <a:br/>
            <a:r>
              <a:t>Markdown解析</a:t>
            </a:r>
            <a:br/>
            <a:r>
              <a:t>• marked.js库</a:t>
            </a:r>
            <a:br/>
            <a:r>
              <a:t>• 实时预览功能</a:t>
            </a:r>
            <a:br/>
            <a:r>
              <a:t>• 文章目录生成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1645920"/>
            <a:ext cx="3383280" cy="457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1645920"/>
            <a:ext cx="1127760" cy="54864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516880" y="1645920"/>
            <a:ext cx="1127760" cy="54864"/>
          </a:xfrm>
          <a:prstGeom prst="rect">
            <a:avLst/>
          </a:prstGeom>
          <a:solidFill>
            <a:srgbClr val="3A0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644640" y="1645920"/>
            <a:ext cx="1127760" cy="54864"/>
          </a:xfrm>
          <a:prstGeom prst="rect">
            <a:avLst/>
          </a:prstGeom>
          <a:solidFill>
            <a:srgbClr val="F72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19202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361EE"/>
                </a:solidFill>
                <a:latin typeface="微软雅黑"/>
              </a:defRPr>
            </a:pPr>
            <a:r>
              <a:t>后端技术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468880"/>
            <a:ext cx="28346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C757D"/>
                </a:solidFill>
                <a:latin typeface="微软雅黑"/>
              </a:defRPr>
            </a:pPr>
            <a:r>
              <a:t>Node.js</a:t>
            </a:r>
            <a:br/>
            <a:r>
              <a:t>• JavaScript运行时环境</a:t>
            </a:r>
            <a:br/>
            <a:r>
              <a:t>• 异步非阻塞I/O</a:t>
            </a:r>
            <a:br/>
            <a:r>
              <a:t>• 丰富的npm生态</a:t>
            </a:r>
            <a:br/>
            <a:br/>
            <a:r>
              <a:t>Express.js</a:t>
            </a:r>
            <a:br/>
            <a:r>
              <a:t>• 轻量级Web框架</a:t>
            </a:r>
            <a:br/>
            <a:r>
              <a:t>• RESTful API设计</a:t>
            </a:r>
            <a:br/>
            <a:r>
              <a:t>• 中间件机制</a:t>
            </a:r>
            <a:br/>
            <a:br/>
            <a:r>
              <a:t>JWT认证</a:t>
            </a:r>
            <a:br/>
            <a:r>
              <a:t>• JSON Web Token</a:t>
            </a:r>
            <a:br/>
            <a:r>
              <a:t>• 无状态认证</a:t>
            </a:r>
            <a:br/>
            <a:r>
              <a:t>• 令牌过期机制</a:t>
            </a:r>
            <a:br/>
            <a:br/>
            <a:r>
              <a:t>Multer</a:t>
            </a:r>
            <a:br/>
            <a:r>
              <a:t>• 文件上传处理</a:t>
            </a:r>
            <a:br/>
            <a:r>
              <a:t>• 文件类型验证</a:t>
            </a:r>
            <a:br/>
            <a:r>
              <a:t>• 大小限制控制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1645920"/>
            <a:ext cx="3383280" cy="457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46720" y="1645920"/>
            <a:ext cx="1127760" cy="54864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74480" y="1645920"/>
            <a:ext cx="1127760" cy="54864"/>
          </a:xfrm>
          <a:prstGeom prst="rect">
            <a:avLst/>
          </a:prstGeom>
          <a:solidFill>
            <a:srgbClr val="3A0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302240" y="1645920"/>
            <a:ext cx="1127760" cy="54864"/>
          </a:xfrm>
          <a:prstGeom prst="rect">
            <a:avLst/>
          </a:prstGeom>
          <a:solidFill>
            <a:srgbClr val="F72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19202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361EE"/>
                </a:solidFill>
                <a:latin typeface="微软雅黑"/>
              </a:defRPr>
            </a:pPr>
            <a:r>
              <a:t>数据库技术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468880"/>
            <a:ext cx="28346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C757D"/>
                </a:solidFill>
                <a:latin typeface="微软雅黑"/>
              </a:defRPr>
            </a:pPr>
            <a:r>
              <a:t>SQLite</a:t>
            </a:r>
            <a:br/>
            <a:r>
              <a:t>• 嵌入式关系型数据库</a:t>
            </a:r>
            <a:br/>
            <a:r>
              <a:t>• 无需独立服务器</a:t>
            </a:r>
            <a:br/>
            <a:r>
              <a:t>• 零配置，易于部署</a:t>
            </a:r>
            <a:br/>
            <a:br/>
            <a:r>
              <a:t>bcryptjs</a:t>
            </a:r>
            <a:br/>
            <a:r>
              <a:t>• 密码加密存储</a:t>
            </a:r>
            <a:br/>
            <a:r>
              <a:t>• 盐值哈希算法</a:t>
            </a:r>
            <a:br/>
            <a:r>
              <a:t>• 防止彩虹表攻击</a:t>
            </a:r>
            <a:br/>
            <a:br/>
            <a:r>
              <a:t>数据库设计</a:t>
            </a:r>
            <a:br/>
            <a:r>
              <a:t>• 4个核心数据表</a:t>
            </a:r>
            <a:br/>
            <a:r>
              <a:t>• 外键关联约束</a:t>
            </a:r>
            <a:br/>
            <a:r>
              <a:t>• 索引优化查询</a:t>
            </a:r>
            <a:br/>
            <a:r>
              <a:t>• 事务处理支持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898" cy="73152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898" cy="73152"/>
          </a:xfrm>
          <a:prstGeom prst="rect">
            <a:avLst/>
          </a:prstGeom>
          <a:solidFill>
            <a:srgbClr val="3A0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3898" cy="73152"/>
          </a:xfrm>
          <a:prstGeom prst="rect">
            <a:avLst/>
          </a:prstGeom>
          <a:solidFill>
            <a:srgbClr val="F72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361EE"/>
                </a:solidFill>
                <a:latin typeface="微软雅黑"/>
              </a:defRPr>
            </a:pPr>
            <a:r>
              <a:t>03  系统架构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188720"/>
            <a:ext cx="1371600" cy="36576"/>
          </a:xfrm>
          <a:prstGeom prst="rect">
            <a:avLst/>
          </a:prstGeom>
          <a:solidFill>
            <a:srgbClr val="F72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表示层（前端）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834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微软雅黑"/>
              </a:defRPr>
            </a:pPr>
            <a:r>
              <a:t>HTML5 / CSS3 / JavaScript  |  响应式设计  |  Fetch API  |  Markdown解析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0" y="3017520"/>
            <a:ext cx="1218895" cy="457200"/>
          </a:xfrm>
          <a:prstGeom prst="rect">
            <a:avLst/>
          </a:prstGeom>
          <a:solidFill>
            <a:srgbClr val="F72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⬇ HTTP ⬆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3474720"/>
            <a:ext cx="9144000" cy="1097280"/>
          </a:xfrm>
          <a:prstGeom prst="rect">
            <a:avLst/>
          </a:prstGeom>
          <a:solidFill>
            <a:srgbClr val="3A0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业务逻辑层（后端）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663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微软雅黑"/>
              </a:defRPr>
            </a:pPr>
            <a:r>
              <a:t>Node.js + Express.js  |  JWT认证  |  Multer文件上传  |  RESTful API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0" y="4846320"/>
            <a:ext cx="1218895" cy="457200"/>
          </a:xfrm>
          <a:prstGeom prst="rect">
            <a:avLst/>
          </a:prstGeom>
          <a:solidFill>
            <a:srgbClr val="F72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⬇ SQL 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5303520"/>
            <a:ext cx="9144000" cy="1097280"/>
          </a:xfrm>
          <a:prstGeom prst="rect">
            <a:avLst/>
          </a:prstGeom>
          <a:solidFill>
            <a:srgbClr val="F72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数据访问层（数据库）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6492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微软雅黑"/>
              </a:defRPr>
            </a:pPr>
            <a:r>
              <a:t>SQLite  |  users表  |  articles表  |  comments表  |  gallery_items表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898" cy="73152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898" cy="73152"/>
          </a:xfrm>
          <a:prstGeom prst="rect">
            <a:avLst/>
          </a:prstGeom>
          <a:solidFill>
            <a:srgbClr val="3A0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3898" cy="73152"/>
          </a:xfrm>
          <a:prstGeom prst="rect">
            <a:avLst/>
          </a:prstGeom>
          <a:solidFill>
            <a:srgbClr val="F72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361EE"/>
                </a:solidFill>
                <a:latin typeface="微软雅黑"/>
              </a:defRPr>
            </a:pPr>
            <a:r>
              <a:t>04  功能模块实现 — 用户认证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188720"/>
            <a:ext cx="1371600" cy="36576"/>
          </a:xfrm>
          <a:prstGeom prst="rect">
            <a:avLst/>
          </a:prstGeom>
          <a:solidFill>
            <a:srgbClr val="F72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02920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1676400" cy="54864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407920" y="1645920"/>
            <a:ext cx="1676400" cy="54864"/>
          </a:xfrm>
          <a:prstGeom prst="rect">
            <a:avLst/>
          </a:prstGeom>
          <a:solidFill>
            <a:srgbClr val="3A0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084320" y="1645920"/>
            <a:ext cx="1676400" cy="54864"/>
          </a:xfrm>
          <a:prstGeom prst="rect">
            <a:avLst/>
          </a:prstGeom>
          <a:solidFill>
            <a:srgbClr val="F72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2024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361EE"/>
                </a:solidFill>
                <a:latin typeface="微软雅黑"/>
              </a:defRPr>
            </a:pPr>
            <a:r>
              <a:t>功能描述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468880"/>
            <a:ext cx="4480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C757D"/>
                </a:solidFill>
                <a:latin typeface="微软雅黑"/>
              </a:defRPr>
            </a:pPr>
            <a:r>
              <a:t>• 用户注册：支持用户名、密码、邮箱注册</a:t>
            </a:r>
            <a:br/>
            <a:r>
              <a:t>• 用户登录：验证身份并返回JWT令牌</a:t>
            </a:r>
            <a:br/>
            <a:r>
              <a:t>• 密码加密：使用bcryptjs进行密码哈希存储</a:t>
            </a:r>
            <a:br/>
            <a:r>
              <a:t>• 登录状态：JWT令牌存储在localStorage</a:t>
            </a:r>
            <a:br/>
            <a:r>
              <a:t>• 安全退出：清除本地存储的令牌信息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645920"/>
            <a:ext cx="502920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1645920"/>
            <a:ext cx="1676400" cy="54864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77200" y="1645920"/>
            <a:ext cx="1676400" cy="54864"/>
          </a:xfrm>
          <a:prstGeom prst="rect">
            <a:avLst/>
          </a:prstGeom>
          <a:solidFill>
            <a:srgbClr val="3A0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753600" y="1645920"/>
            <a:ext cx="1676400" cy="54864"/>
          </a:xfrm>
          <a:prstGeom prst="rect">
            <a:avLst/>
          </a:prstGeom>
          <a:solidFill>
            <a:srgbClr val="F72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192024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361EE"/>
                </a:solidFill>
                <a:latin typeface="微软雅黑"/>
              </a:defRPr>
            </a:pPr>
            <a:r>
              <a:t>技术实现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468880"/>
            <a:ext cx="4480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C757D"/>
                </a:solidFill>
                <a:latin typeface="微软雅黑"/>
              </a:defRPr>
            </a:pPr>
            <a:r>
              <a:t>• JWT认证中间件验证请求令牌</a:t>
            </a:r>
            <a:br/>
            <a:r>
              <a:t>• bcryptjs密码加密（10轮盐值）</a:t>
            </a:r>
            <a:br/>
            <a:r>
              <a:t>• 令牌有效期24小时</a:t>
            </a:r>
            <a:br/>
            <a:r>
              <a:t>• 前端自动附加Authorization头</a:t>
            </a:r>
            <a:br/>
            <a:r>
              <a:t>• 路由级权限控制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206240"/>
            <a:ext cx="10698480" cy="2286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100">
                <a:solidFill>
                  <a:srgbClr val="E4E4E7"/>
                </a:solidFill>
                <a:latin typeface="Consolas"/>
              </a:defRPr>
            </a:pPr>
            <a:r>
              <a:t>// JWT认证中间件</a:t>
            </a:r>
            <a:br/>
            <a:r>
              <a:t>const authenticateToken = (req, res, next) =&gt; {</a:t>
            </a:r>
            <a:br/>
            <a:r>
              <a:t>    const authHeader = req.headers['authorization'];</a:t>
            </a:r>
            <a:br/>
            <a:r>
              <a:t>    const token = authHeader &amp;&amp; authHeader.split(' ')[1];</a:t>
            </a:r>
            <a:br/>
            <a:r>
              <a:t>    if (!token) return res.status(401).json({ error: '访问令牌缺失' });</a:t>
            </a:r>
            <a:br/>
            <a:r>
              <a:t>    jwt.verify(token, JWT_SECRET, (err, user) =&gt; {</a:t>
            </a:r>
            <a:br/>
            <a:r>
              <a:t>        if (err) return res.status(403).json({ error: '令牌无效' });</a:t>
            </a:r>
            <a:br/>
            <a:r>
              <a:t>        req.user = user;</a:t>
            </a:r>
            <a:br/>
            <a:r>
              <a:t>        next();</a:t>
            </a:r>
            <a:br/>
            <a:r>
              <a:t>    });</a:t>
            </a:r>
            <a:br/>
            <a:r>
              <a:t>};</a:t>
            </a:r>
            <a:br/>
            <a:br/>
            <a:r>
              <a:t>// 用户登录</a:t>
            </a:r>
            <a:br/>
            <a:r>
              <a:t>app.post('/api/login', (req, res) =&gt; {</a:t>
            </a:r>
            <a:br/>
            <a:r>
              <a:t>    // 验证用户名密码 -&gt; 生成JWT令牌 -&gt; 返回用户信息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898" cy="73152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898" cy="73152"/>
          </a:xfrm>
          <a:prstGeom prst="rect">
            <a:avLst/>
          </a:prstGeom>
          <a:solidFill>
            <a:srgbClr val="3A0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3898" cy="73152"/>
          </a:xfrm>
          <a:prstGeom prst="rect">
            <a:avLst/>
          </a:prstGeom>
          <a:solidFill>
            <a:srgbClr val="F72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361EE"/>
                </a:solidFill>
                <a:latin typeface="微软雅黑"/>
              </a:defRPr>
            </a:pPr>
            <a:r>
              <a:t>04  功能模块实现 — 文章管理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188720"/>
            <a:ext cx="1371600" cy="36576"/>
          </a:xfrm>
          <a:prstGeom prst="rect">
            <a:avLst/>
          </a:prstGeom>
          <a:solidFill>
            <a:srgbClr val="F72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02920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1676400" cy="54864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407920" y="1645920"/>
            <a:ext cx="1676400" cy="54864"/>
          </a:xfrm>
          <a:prstGeom prst="rect">
            <a:avLst/>
          </a:prstGeom>
          <a:solidFill>
            <a:srgbClr val="3A0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084320" y="1645920"/>
            <a:ext cx="1676400" cy="54864"/>
          </a:xfrm>
          <a:prstGeom prst="rect">
            <a:avLst/>
          </a:prstGeom>
          <a:solidFill>
            <a:srgbClr val="F72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2024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361EE"/>
                </a:solidFill>
                <a:latin typeface="微软雅黑"/>
              </a:defRPr>
            </a:pPr>
            <a:r>
              <a:t>功能描述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468880"/>
            <a:ext cx="4480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C757D"/>
                </a:solidFill>
                <a:latin typeface="微软雅黑"/>
              </a:defRPr>
            </a:pPr>
            <a:r>
              <a:t>• 文章CRUD：创建、读取、更新、删除</a:t>
            </a:r>
            <a:br/>
            <a:r>
              <a:t>• 分类管理：文章分类浏览和筛选</a:t>
            </a:r>
            <a:br/>
            <a:r>
              <a:t>• 标签系统：支持多标签标记文章</a:t>
            </a:r>
            <a:br/>
            <a:r>
              <a:t>• 搜索功能：按标题、内容、标签搜索</a:t>
            </a:r>
            <a:br/>
            <a:r>
              <a:t>• 分页展示：支持分页浏览文章列表</a:t>
            </a:r>
            <a:br/>
            <a:r>
              <a:t>• Markdown编辑：支持Markdown语法和预览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645920"/>
            <a:ext cx="502920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1645920"/>
            <a:ext cx="1676400" cy="54864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77200" y="1645920"/>
            <a:ext cx="1676400" cy="54864"/>
          </a:xfrm>
          <a:prstGeom prst="rect">
            <a:avLst/>
          </a:prstGeom>
          <a:solidFill>
            <a:srgbClr val="3A0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753600" y="1645920"/>
            <a:ext cx="1676400" cy="54864"/>
          </a:xfrm>
          <a:prstGeom prst="rect">
            <a:avLst/>
          </a:prstGeom>
          <a:solidFill>
            <a:srgbClr val="F72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192024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361EE"/>
                </a:solidFill>
                <a:latin typeface="微软雅黑"/>
              </a:defRPr>
            </a:pPr>
            <a:r>
              <a:t>数据库设计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468880"/>
            <a:ext cx="4480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C757D"/>
                </a:solidFill>
                <a:latin typeface="微软雅黑"/>
              </a:defRPr>
            </a:pPr>
            <a:r>
              <a:t>• articles表包含：id, title, content, author_id, category, tags, cover_image, likes, views, status, created_at, updated_at</a:t>
            </a:r>
            <a:br/>
            <a:r>
              <a:t>• 支持文章状态管理（草稿/已发布）</a:t>
            </a:r>
            <a:br/>
            <a:r>
              <a:t>• 记录浏览量和更新时间</a:t>
            </a:r>
            <a:br/>
            <a:r>
              <a:t>• 建立作者与文章的外键关系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206240"/>
            <a:ext cx="1069848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4206240"/>
            <a:ext cx="3566160" cy="54864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97680" y="4206240"/>
            <a:ext cx="3566160" cy="54864"/>
          </a:xfrm>
          <a:prstGeom prst="rect">
            <a:avLst/>
          </a:prstGeom>
          <a:solidFill>
            <a:srgbClr val="3A0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863840" y="4206240"/>
            <a:ext cx="3566160" cy="54864"/>
          </a:xfrm>
          <a:prstGeom prst="rect">
            <a:avLst/>
          </a:prstGeom>
          <a:solidFill>
            <a:srgbClr val="F72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4480560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361EE"/>
                </a:solidFill>
                <a:latin typeface="微软雅黑"/>
              </a:defRPr>
            </a:pPr>
            <a:r>
              <a:t>API接口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029200"/>
            <a:ext cx="10149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C757D"/>
                </a:solidFill>
                <a:latin typeface="微软雅黑"/>
              </a:defRPr>
            </a:pPr>
            <a:r>
              <a:t>• GET /api/articles — 获取文章列表（分页）</a:t>
            </a:r>
            <a:br/>
            <a:r>
              <a:t>• GET /api/articles/:id — 获取单篇文章详情</a:t>
            </a:r>
            <a:br/>
            <a:r>
              <a:t>• POST /api/articles — 创建新文章（需认证）</a:t>
            </a:r>
            <a:br/>
            <a:r>
              <a:t>• PUT /api/articles/:id — 更新文章（需认证）</a:t>
            </a:r>
            <a:br/>
            <a:r>
              <a:t>• DELETE /api/articles/:id — 删除文章（需认证）</a:t>
            </a:r>
            <a:br/>
            <a:r>
              <a:t>• GET /api/articles/search/:query — 搜索文章</a:t>
            </a:r>
            <a:br/>
            <a:r>
              <a:t>• GET /api/categories — 获取文章分类</a:t>
            </a:r>
            <a:br/>
            <a:r>
              <a:t>• GET /api/articles/category/:category — 按分类获取文章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898" cy="73152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898" cy="73152"/>
          </a:xfrm>
          <a:prstGeom prst="rect">
            <a:avLst/>
          </a:prstGeom>
          <a:solidFill>
            <a:srgbClr val="3A0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3898" cy="73152"/>
          </a:xfrm>
          <a:prstGeom prst="rect">
            <a:avLst/>
          </a:prstGeom>
          <a:solidFill>
            <a:srgbClr val="F72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361EE"/>
                </a:solidFill>
                <a:latin typeface="微软雅黑"/>
              </a:defRPr>
            </a:pPr>
            <a:r>
              <a:t>04  功能模块实现 — 图片上传与画廊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188720"/>
            <a:ext cx="1371600" cy="36576"/>
          </a:xfrm>
          <a:prstGeom prst="rect">
            <a:avLst/>
          </a:prstGeom>
          <a:solidFill>
            <a:srgbClr val="F72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02920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1676400" cy="54864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407920" y="1645920"/>
            <a:ext cx="1676400" cy="54864"/>
          </a:xfrm>
          <a:prstGeom prst="rect">
            <a:avLst/>
          </a:prstGeom>
          <a:solidFill>
            <a:srgbClr val="3A0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084320" y="1645920"/>
            <a:ext cx="1676400" cy="54864"/>
          </a:xfrm>
          <a:prstGeom prst="rect">
            <a:avLst/>
          </a:prstGeom>
          <a:solidFill>
            <a:srgbClr val="F72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2024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361EE"/>
                </a:solidFill>
                <a:latin typeface="微软雅黑"/>
              </a:defRPr>
            </a:pPr>
            <a:r>
              <a:t>功能描述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468880"/>
            <a:ext cx="4480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C757D"/>
                </a:solidFill>
                <a:latin typeface="微软雅黑"/>
              </a:defRPr>
            </a:pPr>
            <a:r>
              <a:t>• 图片上传：支持JPG、PNG、GIF格式</a:t>
            </a:r>
            <a:br/>
            <a:r>
              <a:t>• 文件限制：最大2MB，类型验证</a:t>
            </a:r>
            <a:br/>
            <a:r>
              <a:t>• 图片预览：上传前预览和确认</a:t>
            </a:r>
            <a:br/>
            <a:r>
              <a:t>• 插入文章：上传后可直接插入文章内容</a:t>
            </a:r>
            <a:br/>
            <a:r>
              <a:t>• 封面设置：上传图片可设为文章封面</a:t>
            </a:r>
            <a:br/>
            <a:r>
              <a:t>• 画廊展示：摄影作品分类展示和筛选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645920"/>
            <a:ext cx="502920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1645920"/>
            <a:ext cx="1676400" cy="54864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77200" y="1645920"/>
            <a:ext cx="1676400" cy="54864"/>
          </a:xfrm>
          <a:prstGeom prst="rect">
            <a:avLst/>
          </a:prstGeom>
          <a:solidFill>
            <a:srgbClr val="3A0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753600" y="1645920"/>
            <a:ext cx="1676400" cy="54864"/>
          </a:xfrm>
          <a:prstGeom prst="rect">
            <a:avLst/>
          </a:prstGeom>
          <a:solidFill>
            <a:srgbClr val="F72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192024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361EE"/>
                </a:solidFill>
                <a:latin typeface="微软雅黑"/>
              </a:defRPr>
            </a:pPr>
            <a:r>
              <a:t>技术实现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468880"/>
            <a:ext cx="4480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C757D"/>
                </a:solidFill>
                <a:latin typeface="微软雅黑"/>
              </a:defRPr>
            </a:pPr>
            <a:r>
              <a:t>• Multer中间件处理文件上传</a:t>
            </a:r>
            <a:br/>
            <a:r>
              <a:t>• 唯一文件名生成（时间戳+随机数）</a:t>
            </a:r>
            <a:br/>
            <a:r>
              <a:t>• 文件类型和大小双重验证</a:t>
            </a:r>
            <a:br/>
            <a:r>
              <a:t>• 图片存储到public/uploads目录</a:t>
            </a:r>
            <a:br/>
            <a:r>
              <a:t>• 数据库记录图片元数据</a:t>
            </a:r>
            <a:br/>
            <a:r>
              <a:t>• 支持拖拽上传和点击上传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206240"/>
            <a:ext cx="10698480" cy="2286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100">
                <a:solidFill>
                  <a:srgbClr val="E4E4E7"/>
                </a:solidFill>
                <a:latin typeface="Consolas"/>
              </a:defRPr>
            </a:pPr>
            <a:r>
              <a:t>// Multer文件上传配置</a:t>
            </a:r>
            <a:br/>
            <a:r>
              <a:t>const upload = multer({</a:t>
            </a:r>
            <a:br/>
            <a:r>
              <a:t>    storage: storage,  // 磁盘存储，唯一文件名</a:t>
            </a:r>
            <a:br/>
            <a:r>
              <a:t>    limits: { fileSize: 2 * 1024 * 1024 },  // 2MB限制</a:t>
            </a:r>
            <a:br/>
            <a:r>
              <a:t>    fileFilter: function (req, file, cb) {</a:t>
            </a:r>
            <a:br/>
            <a:r>
              <a:t>        const allowedTypes = /jpeg|jpg|png|gif/;</a:t>
            </a:r>
            <a:br/>
            <a:r>
              <a:t>        // 验证文件扩展名和MIME类型</a:t>
            </a:r>
            <a:br/>
            <a:r>
              <a:t>        if (mimetype &amp;&amp; extname) return cb(null, true);</a:t>
            </a:r>
            <a:br/>
            <a:r>
              <a:t>        cb(new Error('只允许上传图片文件'));</a:t>
            </a:r>
            <a:br/>
            <a:r>
              <a:t>    }</a:t>
            </a:r>
            <a:br/>
            <a:r>
              <a:t>});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898" cy="73152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898" cy="73152"/>
          </a:xfrm>
          <a:prstGeom prst="rect">
            <a:avLst/>
          </a:prstGeom>
          <a:solidFill>
            <a:srgbClr val="3A0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3898" cy="73152"/>
          </a:xfrm>
          <a:prstGeom prst="rect">
            <a:avLst/>
          </a:prstGeom>
          <a:solidFill>
            <a:srgbClr val="F72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361EE"/>
                </a:solidFill>
                <a:latin typeface="微软雅黑"/>
              </a:defRPr>
            </a:pPr>
            <a:r>
              <a:t>04  功能模块实现 — 评论系统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188720"/>
            <a:ext cx="1371600" cy="36576"/>
          </a:xfrm>
          <a:prstGeom prst="rect">
            <a:avLst/>
          </a:prstGeom>
          <a:solidFill>
            <a:srgbClr val="F72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02920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1676400" cy="54864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407920" y="1645920"/>
            <a:ext cx="1676400" cy="54864"/>
          </a:xfrm>
          <a:prstGeom prst="rect">
            <a:avLst/>
          </a:prstGeom>
          <a:solidFill>
            <a:srgbClr val="3A0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084320" y="1645920"/>
            <a:ext cx="1676400" cy="54864"/>
          </a:xfrm>
          <a:prstGeom prst="rect">
            <a:avLst/>
          </a:prstGeom>
          <a:solidFill>
            <a:srgbClr val="F72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2024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361EE"/>
                </a:solidFill>
                <a:latin typeface="微软雅黑"/>
              </a:defRPr>
            </a:pPr>
            <a:r>
              <a:t>功能描述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468880"/>
            <a:ext cx="4480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C757D"/>
                </a:solidFill>
                <a:latin typeface="微软雅黑"/>
              </a:defRPr>
            </a:pPr>
            <a:r>
              <a:t>• 匿名评论：无需登录即可发表评论</a:t>
            </a:r>
            <a:br/>
            <a:r>
              <a:t>• 评论列表：按时间倒序展示评论</a:t>
            </a:r>
            <a:br/>
            <a:r>
              <a:t>• 实时更新：发表评论后自动刷新</a:t>
            </a:r>
            <a:br/>
            <a:r>
              <a:t>• 评论计数：文章卡片显示评论数量</a:t>
            </a:r>
            <a:br/>
            <a:r>
              <a:t>• 表单验证：昵称和内容不能为空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645920"/>
            <a:ext cx="502920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1645920"/>
            <a:ext cx="1676400" cy="54864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77200" y="1645920"/>
            <a:ext cx="1676400" cy="54864"/>
          </a:xfrm>
          <a:prstGeom prst="rect">
            <a:avLst/>
          </a:prstGeom>
          <a:solidFill>
            <a:srgbClr val="3A0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753600" y="1645920"/>
            <a:ext cx="1676400" cy="54864"/>
          </a:xfrm>
          <a:prstGeom prst="rect">
            <a:avLst/>
          </a:prstGeom>
          <a:solidFill>
            <a:srgbClr val="F72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192024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361EE"/>
                </a:solidFill>
                <a:latin typeface="微软雅黑"/>
              </a:defRPr>
            </a:pPr>
            <a:r>
              <a:t>数据库设计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468880"/>
            <a:ext cx="4480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C757D"/>
                </a:solidFill>
                <a:latin typeface="微软雅黑"/>
              </a:defRPr>
            </a:pPr>
            <a:r>
              <a:t>• comments表包含：id, article_id, user_name, content, created_at</a:t>
            </a:r>
            <a:br/>
            <a:r>
              <a:t>• 与articles表建立外键关联</a:t>
            </a:r>
            <a:br/>
            <a:r>
              <a:t>• 级联删除：删除文章时自动删除相关评论</a:t>
            </a:r>
            <a:br/>
            <a:r>
              <a:t>• 支持按文章ID快速查询评论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206240"/>
            <a:ext cx="1069848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4206240"/>
            <a:ext cx="3566160" cy="54864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97680" y="4206240"/>
            <a:ext cx="3566160" cy="54864"/>
          </a:xfrm>
          <a:prstGeom prst="rect">
            <a:avLst/>
          </a:prstGeom>
          <a:solidFill>
            <a:srgbClr val="3A0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863840" y="4206240"/>
            <a:ext cx="3566160" cy="54864"/>
          </a:xfrm>
          <a:prstGeom prst="rect">
            <a:avLst/>
          </a:prstGeom>
          <a:solidFill>
            <a:srgbClr val="F72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4480560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361EE"/>
                </a:solidFill>
                <a:latin typeface="微软雅黑"/>
              </a:defRPr>
            </a:pPr>
            <a:r>
              <a:t>交互流程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029200"/>
            <a:ext cx="10149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C757D"/>
                </a:solidFill>
                <a:latin typeface="微软雅黑"/>
              </a:defRPr>
            </a:pPr>
            <a:r>
              <a:t>1. 用户查看文章详情 → 2. 在评论表单输入昵称和内容 → 3. 点击发表评论</a:t>
            </a:r>
            <a:br/>
            <a:r>
              <a:t>4. 前端发送POST请求到 /api/articles/:id/comments → 5. 后端验证数据并存入数据库</a:t>
            </a:r>
            <a:br/>
            <a:r>
              <a:t>6. 返回成功响应 → 7. 前端刷新评论列表显示新评论</a:t>
            </a:r>
            <a:br/>
            <a:br/>
            <a:r>
              <a:t>特点：无需登录即可评论，降低了互动门槛，提高了用户参与度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898" cy="73152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898" cy="73152"/>
          </a:xfrm>
          <a:prstGeom prst="rect">
            <a:avLst/>
          </a:prstGeom>
          <a:solidFill>
            <a:srgbClr val="3A0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3898" cy="73152"/>
          </a:xfrm>
          <a:prstGeom prst="rect">
            <a:avLst/>
          </a:prstGeom>
          <a:solidFill>
            <a:srgbClr val="F72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361EE"/>
                </a:solidFill>
                <a:latin typeface="微软雅黑"/>
              </a:defRPr>
            </a:pPr>
            <a:r>
              <a:t>05  关键技术问题与解决方案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188720"/>
            <a:ext cx="1371600" cy="36576"/>
          </a:xfrm>
          <a:prstGeom prst="rect">
            <a:avLst/>
          </a:prstGeom>
          <a:solidFill>
            <a:srgbClr val="F72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02920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1676400" cy="54864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407920" y="1645920"/>
            <a:ext cx="1676400" cy="54864"/>
          </a:xfrm>
          <a:prstGeom prst="rect">
            <a:avLst/>
          </a:prstGeom>
          <a:solidFill>
            <a:srgbClr val="3A0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084320" y="1645920"/>
            <a:ext cx="1676400" cy="54864"/>
          </a:xfrm>
          <a:prstGeom prst="rect">
            <a:avLst/>
          </a:prstGeom>
          <a:solidFill>
            <a:srgbClr val="F72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2024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361EE"/>
                </a:solidFill>
                <a:latin typeface="微软雅黑"/>
              </a:defRPr>
            </a:pPr>
            <a:r>
              <a:t>问题1：图片上传后页面刷新丢失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468880"/>
            <a:ext cx="4480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C757D"/>
                </a:solidFill>
                <a:latin typeface="微软雅黑"/>
              </a:defRPr>
            </a:pPr>
            <a:r>
              <a:t>问题：上传的图片仅存储在前端JavaScript数组中，刷新后消失。</a:t>
            </a:r>
            <a:br/>
            <a:br/>
            <a:r>
              <a:t>解决方案：</a:t>
            </a:r>
            <a:br/>
            <a:r>
              <a:t>1. 创建gallery_items数据库表持久化存储</a:t>
            </a:r>
            <a:br/>
            <a:r>
              <a:t>2. 实现完整的图片上传API</a:t>
            </a:r>
            <a:br/>
            <a:r>
              <a:t>3. 配置multer将图片保存到服务器目录</a:t>
            </a:r>
            <a:br/>
            <a:r>
              <a:t>4. 使用唯一文件名防止冲突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645920"/>
            <a:ext cx="502920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1645920"/>
            <a:ext cx="1676400" cy="54864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77200" y="1645920"/>
            <a:ext cx="1676400" cy="54864"/>
          </a:xfrm>
          <a:prstGeom prst="rect">
            <a:avLst/>
          </a:prstGeom>
          <a:solidFill>
            <a:srgbClr val="3A0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753600" y="1645920"/>
            <a:ext cx="1676400" cy="54864"/>
          </a:xfrm>
          <a:prstGeom prst="rect">
            <a:avLst/>
          </a:prstGeom>
          <a:solidFill>
            <a:srgbClr val="F72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192024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361EE"/>
                </a:solidFill>
                <a:latin typeface="微软雅黑"/>
              </a:defRPr>
            </a:pPr>
            <a:r>
              <a:t>问题2：用户认证令牌无效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468880"/>
            <a:ext cx="4480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C757D"/>
                </a:solidFill>
                <a:latin typeface="微软雅黑"/>
              </a:defRPr>
            </a:pPr>
            <a:r>
              <a:t>问题：上传图片时频繁出现"令牌无效"错误。</a:t>
            </a:r>
            <a:br/>
            <a:br/>
            <a:r>
              <a:t>解决方案：</a:t>
            </a:r>
            <a:br/>
            <a:r>
              <a:t>1. 改进登录流程，添加明确提示</a:t>
            </a:r>
            <a:br/>
            <a:r>
              <a:t>2. 优化令牌管理，确保正确保存到localStorage</a:t>
            </a:r>
            <a:br/>
            <a:r>
              <a:t>3. 增强错误处理，添加详细日志</a:t>
            </a:r>
            <a:br/>
            <a:r>
              <a:t>4. 在需要认证的操作前检查登录状态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206240"/>
            <a:ext cx="502920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4206240"/>
            <a:ext cx="1676400" cy="54864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407920" y="4206240"/>
            <a:ext cx="1676400" cy="54864"/>
          </a:xfrm>
          <a:prstGeom prst="rect">
            <a:avLst/>
          </a:prstGeom>
          <a:solidFill>
            <a:srgbClr val="3A0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084320" y="4206240"/>
            <a:ext cx="1676400" cy="54864"/>
          </a:xfrm>
          <a:prstGeom prst="rect">
            <a:avLst/>
          </a:prstGeom>
          <a:solidFill>
            <a:srgbClr val="F72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448056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361EE"/>
                </a:solidFill>
                <a:latin typeface="微软雅黑"/>
              </a:defRPr>
            </a:pPr>
            <a:r>
              <a:t>问题3：服务器无法启动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029200"/>
            <a:ext cx="4480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C757D"/>
                </a:solidFill>
                <a:latin typeface="微软雅黑"/>
              </a:defRPr>
            </a:pPr>
            <a:r>
              <a:t>问题：Node.js进程意外终止或端口被占用。</a:t>
            </a:r>
            <a:br/>
            <a:br/>
            <a:r>
              <a:t>解决方案：</a:t>
            </a:r>
            <a:br/>
            <a:r>
              <a:t>1. 使用正确的绝对路径启动服务器</a:t>
            </a:r>
            <a:br/>
            <a:r>
              <a:t>2. 检查端口3000是否可用</a:t>
            </a:r>
            <a:br/>
            <a:r>
              <a:t>3. 确保所有npm依赖已安装</a:t>
            </a:r>
            <a:br/>
            <a:r>
              <a:t>4. 添加详细的启动错误提示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4206240"/>
            <a:ext cx="502920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0" y="4206240"/>
            <a:ext cx="1676400" cy="54864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77200" y="4206240"/>
            <a:ext cx="1676400" cy="54864"/>
          </a:xfrm>
          <a:prstGeom prst="rect">
            <a:avLst/>
          </a:prstGeom>
          <a:solidFill>
            <a:srgbClr val="3A0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753600" y="4206240"/>
            <a:ext cx="1676400" cy="54864"/>
          </a:xfrm>
          <a:prstGeom prst="rect">
            <a:avLst/>
          </a:prstGeom>
          <a:solidFill>
            <a:srgbClr val="F72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0" y="448056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361EE"/>
                </a:solidFill>
                <a:latin typeface="微软雅黑"/>
              </a:defRPr>
            </a:pPr>
            <a:r>
              <a:t>问题4：跨域访问问题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5029200"/>
            <a:ext cx="4480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C757D"/>
                </a:solidFill>
                <a:latin typeface="微软雅黑"/>
              </a:defRPr>
            </a:pPr>
            <a:r>
              <a:t>问题：前端访问API时遇到跨域错误。</a:t>
            </a:r>
            <a:br/>
            <a:br/>
            <a:r>
              <a:t>解决方案：</a:t>
            </a:r>
            <a:br/>
            <a:r>
              <a:t>1. 在Express中配置CORS中间件</a:t>
            </a:r>
            <a:br/>
            <a:r>
              <a:t>2. 开发环境允许所有来源</a:t>
            </a:r>
            <a:br/>
            <a:r>
              <a:t>3. 生产环境限制特定域名</a:t>
            </a:r>
            <a:br/>
            <a:r>
              <a:t>4. 支持credentials跨域凭证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898" cy="73152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898" cy="73152"/>
          </a:xfrm>
          <a:prstGeom prst="rect">
            <a:avLst/>
          </a:prstGeom>
          <a:solidFill>
            <a:srgbClr val="3A0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3898" cy="73152"/>
          </a:xfrm>
          <a:prstGeom prst="rect">
            <a:avLst/>
          </a:prstGeom>
          <a:solidFill>
            <a:srgbClr val="F72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361EE"/>
                </a:solidFill>
                <a:latin typeface="微软雅黑"/>
              </a:defRPr>
            </a:pPr>
            <a:r>
              <a:t>06  项目成果展示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188720"/>
            <a:ext cx="1371600" cy="36576"/>
          </a:xfrm>
          <a:prstGeom prst="rect">
            <a:avLst/>
          </a:prstGeom>
          <a:solidFill>
            <a:srgbClr val="F72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320040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3200400" cy="54864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20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4361EE"/>
                </a:solidFill>
                <a:latin typeface="微软雅黑"/>
              </a:defRPr>
            </a:pPr>
            <a:r>
              <a:t>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9202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12529"/>
                </a:solidFill>
                <a:latin typeface="微软雅黑"/>
              </a:defRPr>
            </a:pPr>
            <a:r>
              <a:t>用户注册登录系统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56032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C757D"/>
                </a:solidFill>
                <a:latin typeface="微软雅黑"/>
              </a:defRPr>
            </a:pPr>
            <a:r>
              <a:t>支持注册、登录、JWT认证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1645920"/>
            <a:ext cx="320040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645920"/>
            <a:ext cx="3200400" cy="54864"/>
          </a:xfrm>
          <a:prstGeom prst="rect">
            <a:avLst/>
          </a:prstGeom>
          <a:solidFill>
            <a:srgbClr val="3A0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1920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3A0CA3"/>
                </a:solidFill>
                <a:latin typeface="微软雅黑"/>
              </a:defRPr>
            </a:pPr>
            <a:r>
              <a:t>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19202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12529"/>
                </a:solidFill>
                <a:latin typeface="微软雅黑"/>
              </a:defRPr>
            </a:pPr>
            <a:r>
              <a:t>文章发布和管理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56032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C757D"/>
                </a:solidFill>
                <a:latin typeface="微软雅黑"/>
              </a:defRPr>
            </a:pPr>
            <a:r>
              <a:t>CRUD操作、分类、标签、搜索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0" y="1645920"/>
            <a:ext cx="320040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1645920"/>
            <a:ext cx="3200400" cy="54864"/>
          </a:xfrm>
          <a:prstGeom prst="rect">
            <a:avLst/>
          </a:prstGeom>
          <a:solidFill>
            <a:srgbClr val="F72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1920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72585"/>
                </a:solidFill>
                <a:latin typeface="微软雅黑"/>
              </a:defRPr>
            </a:pPr>
            <a:r>
              <a:t>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19202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12529"/>
                </a:solidFill>
                <a:latin typeface="微软雅黑"/>
              </a:defRPr>
            </a:pPr>
            <a:r>
              <a:t>图片上传和画廊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56032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C757D"/>
                </a:solidFill>
                <a:latin typeface="微软雅黑"/>
              </a:defRPr>
            </a:pPr>
            <a:r>
              <a:t>拖拽上传、分类展示、详情查看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3931920"/>
            <a:ext cx="320040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3931920"/>
            <a:ext cx="3200400" cy="54864"/>
          </a:xfrm>
          <a:prstGeom prst="rect">
            <a:avLst/>
          </a:prstGeom>
          <a:solidFill>
            <a:srgbClr val="4C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4206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4CC9F0"/>
                </a:solidFill>
                <a:latin typeface="微软雅黑"/>
              </a:defRPr>
            </a:pPr>
            <a:r>
              <a:t>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2062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12529"/>
                </a:solidFill>
                <a:latin typeface="微软雅黑"/>
              </a:defRPr>
            </a:pPr>
            <a:r>
              <a:t>评论互动系统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484632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C757D"/>
                </a:solidFill>
                <a:latin typeface="微软雅黑"/>
              </a:defRPr>
            </a:pPr>
            <a:r>
              <a:t>匿名评论、实时刷新、计数显示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89120" y="3931920"/>
            <a:ext cx="320040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89120" y="3931920"/>
            <a:ext cx="3200400" cy="54864"/>
          </a:xfrm>
          <a:prstGeom prst="rect">
            <a:avLst/>
          </a:prstGeom>
          <a:solidFill>
            <a:srgbClr val="F89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63440" y="4206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8961E"/>
                </a:solidFill>
                <a:latin typeface="微软雅黑"/>
              </a:defRPr>
            </a:pPr>
            <a:r>
              <a:t>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12080" y="42062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12529"/>
                </a:solidFill>
                <a:latin typeface="微软雅黑"/>
              </a:defRPr>
            </a:pPr>
            <a:r>
              <a:t>响应式网页设计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484632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C757D"/>
                </a:solidFill>
                <a:latin typeface="微软雅黑"/>
              </a:defRPr>
            </a:pPr>
            <a:r>
              <a:t>适配桌面、平板、手机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46720" y="3931920"/>
            <a:ext cx="320040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46720" y="3931920"/>
            <a:ext cx="3200400" cy="54864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21040" y="4206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4361EE"/>
                </a:solidFill>
                <a:latin typeface="微软雅黑"/>
              </a:defRPr>
            </a:pPr>
            <a:r>
              <a:t>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69680" y="42062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12529"/>
                </a:solidFill>
                <a:latin typeface="微软雅黑"/>
              </a:defRPr>
            </a:pPr>
            <a:r>
              <a:t>夜间模式切换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484632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C757D"/>
                </a:solidFill>
                <a:latin typeface="微软雅黑"/>
              </a:defRPr>
            </a:pPr>
            <a:r>
              <a:t>一键切换、本地保存偏好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898" cy="73152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898" cy="73152"/>
          </a:xfrm>
          <a:prstGeom prst="rect">
            <a:avLst/>
          </a:prstGeom>
          <a:solidFill>
            <a:srgbClr val="3A0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3898" cy="73152"/>
          </a:xfrm>
          <a:prstGeom prst="rect">
            <a:avLst/>
          </a:prstGeom>
          <a:solidFill>
            <a:srgbClr val="F72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361EE"/>
                </a:solidFill>
                <a:latin typeface="微软雅黑"/>
              </a:defRPr>
            </a:pPr>
            <a:r>
              <a:t>06  技术指标与性能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188720"/>
            <a:ext cx="1371600" cy="36576"/>
          </a:xfrm>
          <a:prstGeom prst="rect">
            <a:avLst/>
          </a:prstGeom>
          <a:solidFill>
            <a:srgbClr val="F72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25603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2560320" cy="54864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8288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4361EE"/>
                </a:solidFill>
                <a:latin typeface="微软雅黑"/>
              </a:defRPr>
            </a:pPr>
            <a:r>
              <a:t>⏱️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2860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12529"/>
                </a:solidFill>
                <a:latin typeface="微软雅黑"/>
              </a:defRPr>
            </a:pPr>
            <a:r>
              <a:t>页面加载时间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6517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361EE"/>
                </a:solidFill>
                <a:latin typeface="微软雅黑"/>
              </a:defRPr>
            </a:pPr>
            <a:r>
              <a:t>&lt; 2秒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2004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微软雅黑"/>
              </a:defRPr>
            </a:pPr>
            <a:r>
              <a:t>优化了数据库查询和前端渲染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66160" y="1645920"/>
            <a:ext cx="25603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66160" y="1645920"/>
            <a:ext cx="2560320" cy="54864"/>
          </a:xfrm>
          <a:prstGeom prst="rect">
            <a:avLst/>
          </a:prstGeom>
          <a:solidFill>
            <a:srgbClr val="3A0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0" y="18288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3A0CA3"/>
                </a:solidFill>
                <a:latin typeface="微软雅黑"/>
              </a:defRPr>
            </a:pPr>
            <a:r>
              <a:t>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22860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12529"/>
                </a:solidFill>
                <a:latin typeface="微软雅黑"/>
              </a:defRPr>
            </a:pPr>
            <a:r>
              <a:t>并发用户支持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26517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361EE"/>
                </a:solidFill>
                <a:latin typeface="微软雅黑"/>
              </a:defRPr>
            </a:pPr>
            <a:r>
              <a:t>50+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32004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微软雅黑"/>
              </a:defRPr>
            </a:pPr>
            <a:r>
              <a:t>异步非阻塞I/O处理请求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1645920"/>
            <a:ext cx="25603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0" y="1645920"/>
            <a:ext cx="2560320" cy="54864"/>
          </a:xfrm>
          <a:prstGeom prst="rect">
            <a:avLst/>
          </a:prstGeom>
          <a:solidFill>
            <a:srgbClr val="F72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18288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F72585"/>
                </a:solidFill>
                <a:latin typeface="微软雅黑"/>
              </a:defRPr>
            </a:pPr>
            <a:r>
              <a:t>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2860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12529"/>
                </a:solidFill>
                <a:latin typeface="微软雅黑"/>
              </a:defRPr>
            </a:pPr>
            <a:r>
              <a:t>数据库响应时间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26517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361EE"/>
                </a:solidFill>
                <a:latin typeface="微软雅黑"/>
              </a:defRPr>
            </a:pPr>
            <a:r>
              <a:t>&lt; 100ms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32004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微软雅黑"/>
              </a:defRPr>
            </a:pPr>
            <a:r>
              <a:t>索引优化和查询优化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235440" y="1645920"/>
            <a:ext cx="25603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235440" y="1645920"/>
            <a:ext cx="2560320" cy="54864"/>
          </a:xfrm>
          <a:prstGeom prst="rect">
            <a:avLst/>
          </a:prstGeom>
          <a:solidFill>
            <a:srgbClr val="4C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09760" y="18288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4CC9F0"/>
                </a:solidFill>
                <a:latin typeface="微软雅黑"/>
              </a:defRPr>
            </a:pPr>
            <a:r>
              <a:t>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60" y="22860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12529"/>
                </a:solidFill>
                <a:latin typeface="微软雅黑"/>
              </a:defRPr>
            </a:pPr>
            <a:r>
              <a:t>图片上传速度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9760" y="26517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361EE"/>
                </a:solidFill>
                <a:latin typeface="微软雅黑"/>
              </a:defRPr>
            </a:pPr>
            <a:r>
              <a:t>&lt; 5秒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09760" y="32004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微软雅黑"/>
              </a:defRPr>
            </a:pPr>
            <a:r>
              <a:t>2MB以内图片快速上传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4206240"/>
            <a:ext cx="1069848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1520" y="4206240"/>
            <a:ext cx="3566160" cy="54864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297680" y="4206240"/>
            <a:ext cx="3566160" cy="54864"/>
          </a:xfrm>
          <a:prstGeom prst="rect">
            <a:avLst/>
          </a:prstGeom>
          <a:solidFill>
            <a:srgbClr val="3A0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863840" y="4206240"/>
            <a:ext cx="3566160" cy="54864"/>
          </a:xfrm>
          <a:prstGeom prst="rect">
            <a:avLst/>
          </a:prstGeom>
          <a:solidFill>
            <a:srgbClr val="F72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5840" y="4480560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361EE"/>
                </a:solidFill>
                <a:latin typeface="微软雅黑"/>
              </a:defRPr>
            </a:pPr>
            <a:r>
              <a:t>性能优化措施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" y="5029200"/>
            <a:ext cx="10149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C757D"/>
                </a:solidFill>
                <a:latin typeface="微软雅黑"/>
              </a:defRPr>
            </a:pPr>
            <a:r>
              <a:t>数据库优化：为常用查询字段添加索引，使用连接查询减少数据库访问次数，实现分页查询避免一次性加载大量数据</a:t>
            </a:r>
            <a:br/>
            <a:br/>
            <a:r>
              <a:t>前端优化：压缩和合并CSS/JavaScript文件，使用图片懒加载技术，实现客户端缓存减少重复请求</a:t>
            </a:r>
            <a:br/>
            <a:br/>
            <a:r>
              <a:t>服务器优化：使用HTTP压缩减少传输数据量，配置适当的HTTP缓存头，实现请求限流防止恶意访问</a:t>
            </a:r>
            <a:br/>
            <a:br/>
            <a:r>
              <a:t>代码优化：使用异步编程避免阻塞，实现错误边界防止单点故障，添加详细日志记录便于问题排查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898" cy="73152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898" cy="73152"/>
          </a:xfrm>
          <a:prstGeom prst="rect">
            <a:avLst/>
          </a:prstGeom>
          <a:solidFill>
            <a:srgbClr val="3A0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3898" cy="73152"/>
          </a:xfrm>
          <a:prstGeom prst="rect">
            <a:avLst/>
          </a:prstGeom>
          <a:solidFill>
            <a:srgbClr val="F72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361EE"/>
                </a:solidFill>
                <a:latin typeface="微软雅黑"/>
              </a:defRPr>
            </a:pPr>
            <a:r>
              <a:t>07  学习收获与总结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188720"/>
            <a:ext cx="1371600" cy="36576"/>
          </a:xfrm>
          <a:prstGeom prst="rect">
            <a:avLst/>
          </a:prstGeom>
          <a:solidFill>
            <a:srgbClr val="F72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02920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1676400" cy="54864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407920" y="1645920"/>
            <a:ext cx="1676400" cy="54864"/>
          </a:xfrm>
          <a:prstGeom prst="rect">
            <a:avLst/>
          </a:prstGeom>
          <a:solidFill>
            <a:srgbClr val="3A0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084320" y="1645920"/>
            <a:ext cx="1676400" cy="54864"/>
          </a:xfrm>
          <a:prstGeom prst="rect">
            <a:avLst/>
          </a:prstGeom>
          <a:solidFill>
            <a:srgbClr val="F72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2024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361EE"/>
                </a:solidFill>
                <a:latin typeface="微软雅黑"/>
              </a:defRPr>
            </a:pPr>
            <a:r>
              <a:t>技术能力提升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468880"/>
            <a:ext cx="4480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C757D"/>
                </a:solidFill>
                <a:latin typeface="微软雅黑"/>
              </a:defRPr>
            </a:pPr>
            <a:r>
              <a:t>• 全栈开发能力：掌握了从前端到后端的完整开发流程</a:t>
            </a:r>
            <a:br/>
            <a:r>
              <a:t>• 数据库设计：学会了合理设计数据表结构和关系</a:t>
            </a:r>
            <a:br/>
            <a:r>
              <a:t>• API设计：理解了RESTful API的设计原则和实现方法</a:t>
            </a:r>
            <a:br/>
            <a:r>
              <a:t>• 安全防护：掌握了用户认证、数据验证等安全措施</a:t>
            </a:r>
            <a:br/>
            <a:r>
              <a:t>• 问题调试：提升了定位和解决技术问题的能力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645920"/>
            <a:ext cx="502920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1645920"/>
            <a:ext cx="1676400" cy="54864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77200" y="1645920"/>
            <a:ext cx="1676400" cy="54864"/>
          </a:xfrm>
          <a:prstGeom prst="rect">
            <a:avLst/>
          </a:prstGeom>
          <a:solidFill>
            <a:srgbClr val="3A0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753600" y="1645920"/>
            <a:ext cx="1676400" cy="54864"/>
          </a:xfrm>
          <a:prstGeom prst="rect">
            <a:avLst/>
          </a:prstGeom>
          <a:solidFill>
            <a:srgbClr val="F72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192024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361EE"/>
                </a:solidFill>
                <a:latin typeface="微软雅黑"/>
              </a:defRPr>
            </a:pPr>
            <a:r>
              <a:t>工程实践体会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468880"/>
            <a:ext cx="4480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C757D"/>
                </a:solidFill>
                <a:latin typeface="微软雅黑"/>
              </a:defRPr>
            </a:pPr>
            <a:r>
              <a:t>• 代码规范的重要性：良好的代码结构和注释提高了可维护性</a:t>
            </a:r>
            <a:br/>
            <a:r>
              <a:t>• 版本控制的价值：Git帮助管理代码变更和团队协作</a:t>
            </a:r>
            <a:br/>
            <a:r>
              <a:t>• 测试的必要性：充分的测试减少了线上问题的发生</a:t>
            </a:r>
            <a:br/>
            <a:r>
              <a:t>• 文档的实用性：完善的技术文档便于项目交接和维护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206240"/>
            <a:ext cx="502920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4206240"/>
            <a:ext cx="1676400" cy="54864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407920" y="4206240"/>
            <a:ext cx="1676400" cy="54864"/>
          </a:xfrm>
          <a:prstGeom prst="rect">
            <a:avLst/>
          </a:prstGeom>
          <a:solidFill>
            <a:srgbClr val="3A0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084320" y="4206240"/>
            <a:ext cx="1676400" cy="54864"/>
          </a:xfrm>
          <a:prstGeom prst="rect">
            <a:avLst/>
          </a:prstGeom>
          <a:solidFill>
            <a:srgbClr val="F72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448056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361EE"/>
                </a:solidFill>
                <a:latin typeface="微软雅黑"/>
              </a:defRPr>
            </a:pPr>
            <a:r>
              <a:t>未来改进方向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029200"/>
            <a:ext cx="4480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C757D"/>
                </a:solidFill>
                <a:latin typeface="微软雅黑"/>
              </a:defRPr>
            </a:pPr>
            <a:r>
              <a:t>• 功能扩展：添加用户关注、消息通知等社交功能</a:t>
            </a:r>
            <a:br/>
            <a:r>
              <a:t>• 性能优化：引入Redis缓存、数据库读写分离</a:t>
            </a:r>
            <a:br/>
            <a:r>
              <a:t>• 移动端适配：开发移动端APP或PWA应用</a:t>
            </a:r>
            <a:br/>
            <a:r>
              <a:t>• SEO优化：改善搜索引擎友好性</a:t>
            </a:r>
            <a:br/>
            <a:r>
              <a:t>• 国际化支持：多语言界面和内容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4206240"/>
            <a:ext cx="502920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0" y="4206240"/>
            <a:ext cx="1676400" cy="54864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77200" y="4206240"/>
            <a:ext cx="1676400" cy="54864"/>
          </a:xfrm>
          <a:prstGeom prst="rect">
            <a:avLst/>
          </a:prstGeom>
          <a:solidFill>
            <a:srgbClr val="3A0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753600" y="4206240"/>
            <a:ext cx="1676400" cy="54864"/>
          </a:xfrm>
          <a:prstGeom prst="rect">
            <a:avLst/>
          </a:prstGeom>
          <a:solidFill>
            <a:srgbClr val="F72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0" y="448056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361EE"/>
                </a:solidFill>
                <a:latin typeface="微软雅黑"/>
              </a:defRPr>
            </a:pPr>
            <a:r>
              <a:t>个人感悟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5029200"/>
            <a:ext cx="4480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C757D"/>
                </a:solidFill>
                <a:latin typeface="微软雅黑"/>
              </a:defRPr>
            </a:pPr>
            <a:r>
              <a:t>通过本次毕业设计项目，我深刻体会到理论知识与实践结合的重要性。在开发过程中遇到的每一个问题都是学习的机会，每一次解决问题的过程都是能力的提升。未来，我将继续深入学习Web开发技术，不断优化和完善这个项目，同时将所学知识应用到更多的实际项目中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898" cy="137160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898" cy="137160"/>
          </a:xfrm>
          <a:prstGeom prst="rect">
            <a:avLst/>
          </a:prstGeom>
          <a:solidFill>
            <a:srgbClr val="3A0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3898" cy="137160"/>
          </a:xfrm>
          <a:prstGeom prst="rect">
            <a:avLst/>
          </a:prstGeom>
          <a:solidFill>
            <a:srgbClr val="F72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1828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4361EE"/>
                </a:solidFill>
                <a:latin typeface="微软雅黑"/>
              </a:defRPr>
            </a:pPr>
            <a:r>
              <a:t>致  谢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0" y="2926080"/>
            <a:ext cx="2133295" cy="36576"/>
          </a:xfrm>
          <a:prstGeom prst="rect">
            <a:avLst/>
          </a:prstGeom>
          <a:solidFill>
            <a:srgbClr val="F72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329184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C757D"/>
                </a:solidFill>
                <a:latin typeface="微软雅黑"/>
              </a:defRPr>
            </a:pPr>
            <a:r>
              <a:t>感谢指导老师的悉心指导</a:t>
            </a:r>
            <a:br/>
            <a:r>
              <a:t>感谢同学们的支持与帮助</a:t>
            </a:r>
            <a:br/>
            <a:r>
              <a:t>感谢各位评委老师的聆听与指导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029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A0CA3"/>
                </a:solidFill>
                <a:latin typeface="微软雅黑"/>
              </a:defRPr>
            </a:pPr>
            <a:r>
              <a:t>欢迎各位老师提问！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A0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